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5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CA4"/>
    <a:srgbClr val="FFFFFF"/>
    <a:srgbClr val="F9F9F9"/>
    <a:srgbClr val="0070C0"/>
    <a:srgbClr val="F87070"/>
    <a:srgbClr val="F87171"/>
    <a:srgbClr val="8593A8"/>
    <a:srgbClr val="334155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00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64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A0A8A-4549-883D-6004-2D406AED3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6B3C5-9AF4-3BC0-BA76-DD9051CCD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5712D-D2A8-1ACD-806C-16D76AEAE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6B2-0DF5-19C0-03D1-837D4E2D85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70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0446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1377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3066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05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4180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8112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0843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081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3452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4978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9549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361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1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813905" y="1657728"/>
            <a:ext cx="39352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AquaPredict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535430" y="2508122"/>
            <a:ext cx="6629400" cy="45719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809749" y="2565873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Inteligente de Previsão para Reservatórios de Água</a:t>
            </a:r>
            <a:endParaRPr lang="en-US" sz="15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535430" y="3404235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2E6CA4"/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535430" y="3404235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 Bruno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27070" y="3404235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2E6CA4"/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27070" y="3404235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Carlos Henrique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18710" y="3404235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2E6CA4"/>
          </a:solidFill>
          <a:ln w="6350">
            <a:noFill/>
            <a:prstDash val="solid"/>
          </a:ln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18710" y="3404235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José Veríssimo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10350" y="3404235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2E6CA4"/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10350" y="3404235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Thallys Araújo</a:t>
            </a:r>
            <a:endParaRPr lang="en-US" sz="1000" b="1" dirty="0">
              <a:solidFill>
                <a:schemeClr val="bg1"/>
              </a:solidFill>
            </a:endParaRPr>
          </a:p>
        </p:txBody>
      </p:sp>
      <p:pic>
        <p:nvPicPr>
          <p:cNvPr id="17" name="Image 0">
            <a:extLst>
              <a:ext uri="{FF2B5EF4-FFF2-40B4-BE49-F238E27FC236}">
                <a16:creationId xmlns:a16="http://schemas.microsoft.com/office/drawing/2014/main" id="{CF64C6A6-F51C-CA30-05E0-AD28F743A00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98727" y="680051"/>
            <a:ext cx="965645" cy="965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b="1" dirty="0">
              <a:solidFill>
                <a:srgbClr val="F8717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199" y="273558"/>
            <a:ext cx="1038225" cy="339090"/>
          </a:xfrm>
          <a:prstGeom prst="roundRect">
            <a:avLst>
              <a:gd name="adj" fmla="val 50000"/>
            </a:avLst>
          </a:prstGeom>
          <a:solidFill>
            <a:srgbClr val="F87171">
              <a:alpha val="25000"/>
            </a:srgbClr>
          </a:solidFill>
          <a:ln w="63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199" y="273558"/>
            <a:ext cx="1038225" cy="33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Ausência de previsão no gerenciamento de reservatórios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199" y="1234440"/>
            <a:ext cx="61748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 convencionais operam de forma </a:t>
            </a:r>
            <a:r>
              <a:rPr lang="en-US" sz="13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reativa</a:t>
            </a:r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acionando</a:t>
            </a:r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bombas e válvulas apenas após a detecção de níveis críticos.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6576" cy="1143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2179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15568" y="2057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Desperdício de </a:t>
            </a:r>
            <a:r>
              <a:rPr lang="en-US" sz="1200" b="1" dirty="0" err="1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energia</a:t>
            </a:r>
            <a:endParaRPr lang="en-US" sz="1200" dirty="0">
              <a:solidFill>
                <a:srgbClr val="F8717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5568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Acionamentos fora de hora elevam custos operacionais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00600" y="192024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800600" y="1920240"/>
            <a:ext cx="36576" cy="1143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6519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58968" y="2057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Acionamentos</a:t>
            </a:r>
            <a:r>
              <a:rPr lang="en-US" sz="12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 err="1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desnecessários</a:t>
            </a:r>
            <a:endParaRPr lang="en-US" sz="1200" dirty="0">
              <a:solidFill>
                <a:srgbClr val="F8717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58968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Bombas ligam sem real necessidade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6576" cy="1143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2179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15568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 de </a:t>
            </a:r>
            <a:r>
              <a:rPr lang="en-US" sz="1200" b="1" dirty="0" err="1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</a:t>
            </a:r>
            <a:r>
              <a:rPr lang="en-US" sz="12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 err="1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d’água</a:t>
            </a:r>
            <a:endParaRPr lang="en-US" sz="1200" dirty="0">
              <a:solidFill>
                <a:srgbClr val="F8717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15568" y="3703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Detecção tardia causa desabastecimento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00600" y="324612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4800600" y="3246120"/>
            <a:ext cx="36576" cy="1143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96519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📉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58968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 </a:t>
            </a:r>
            <a:r>
              <a:rPr lang="en-US" sz="1200" b="1" dirty="0" err="1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</a:t>
            </a:r>
            <a:r>
              <a:rPr lang="en-US" sz="12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 err="1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operacional</a:t>
            </a:r>
            <a:endParaRPr lang="en-US" sz="1200" dirty="0">
              <a:solidFill>
                <a:srgbClr val="F8717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58968" y="3703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manuais e sem inteligência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2DA948A7-F19A-C0A8-0883-F803AF12C9F2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270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que</a:t>
            </a:r>
            <a:r>
              <a:rPr lang="en-US" sz="2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 o </a:t>
            </a:r>
            <a:r>
              <a:rPr lang="en-US" sz="270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AquaPredict</a:t>
            </a:r>
            <a:r>
              <a:rPr lang="en-US" sz="2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70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prevê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24015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 um sistema baseado em Inteligência Artificial capaz de prever: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576" cy="868680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21792" y="19842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1965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Consumo</a:t>
            </a:r>
            <a:r>
              <a:rPr lang="en-US" sz="13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 err="1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futuro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234440" y="228600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Prever o volume de água que será </a:t>
            </a:r>
            <a:r>
              <a:rPr lang="en-US" sz="10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</a:t>
            </a: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</a:t>
            </a: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</a:t>
            </a: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hora com base em padrões históricos.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6576" cy="868680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21792" y="29900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4440" y="2971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Estimativa</a:t>
            </a:r>
            <a:r>
              <a:rPr lang="en-US" sz="13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300" b="1" dirty="0" err="1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</a:t>
            </a:r>
            <a:r>
              <a:rPr lang="en-US" sz="13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 err="1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crítico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4440" y="329184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quanto tempo o reservatório levará para atingir um nível crítico com base no consumo previsto.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36576" cy="868680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pt-BR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" y="39959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4440" y="3977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Recomendação</a:t>
            </a:r>
            <a:r>
              <a:rPr lang="en-US" sz="13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300" b="1" dirty="0" err="1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acionamento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34440" y="429768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Recomendar o acionamento da bomba de forma antecipada para evitar desabastecimento.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7EF56DD9-6CC4-7E02-1AA0-666E43E4766F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49F1DDD9-7C44-1452-6ADF-536D7BEAA21D}"/>
              </a:ext>
            </a:extLst>
          </p:cNvPr>
          <p:cNvSpPr/>
          <p:nvPr/>
        </p:nvSpPr>
        <p:spPr>
          <a:xfrm rot="18620937">
            <a:off x="8997498" y="-747312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1B25058C-E175-4B14-8957-68DBDCD7FE33}"/>
              </a:ext>
            </a:extLst>
          </p:cNvPr>
          <p:cNvSpPr/>
          <p:nvPr/>
        </p:nvSpPr>
        <p:spPr>
          <a:xfrm rot="18620937">
            <a:off x="8829624" y="-541573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BEAF4144-2C74-3E69-2DE2-262F18029292}"/>
              </a:ext>
            </a:extLst>
          </p:cNvPr>
          <p:cNvSpPr/>
          <p:nvPr/>
        </p:nvSpPr>
        <p:spPr>
          <a:xfrm rot="18620937">
            <a:off x="8639121" y="-359263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E6C16D5D-9642-0537-929E-3B5E3477225F}"/>
              </a:ext>
            </a:extLst>
          </p:cNvPr>
          <p:cNvSpPr/>
          <p:nvPr/>
        </p:nvSpPr>
        <p:spPr>
          <a:xfrm>
            <a:off x="457200" y="287464"/>
            <a:ext cx="1038223" cy="325755"/>
          </a:xfrm>
          <a:prstGeom prst="roundRect">
            <a:avLst>
              <a:gd name="adj" fmla="val 50000"/>
            </a:avLst>
          </a:prstGeom>
          <a:solidFill>
            <a:srgbClr val="0070C0">
              <a:alpha val="25000"/>
            </a:srgbClr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F169DB7F-422C-85E8-F91F-9C3759E667F2}"/>
              </a:ext>
            </a:extLst>
          </p:cNvPr>
          <p:cNvSpPr/>
          <p:nvPr/>
        </p:nvSpPr>
        <p:spPr>
          <a:xfrm>
            <a:off x="457200" y="287464"/>
            <a:ext cx="1038223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</a:t>
            </a:r>
            <a:endParaRPr lang="en-US" sz="1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Solução</a:t>
            </a:r>
            <a:r>
              <a:rPr lang="en-US" sz="2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70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proposta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dirty="0">
                <a:solidFill>
                  <a:schemeClr val="tx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utiliza uma Rede Neural MLP para prever o consumo futuro de água. A partir dessa previsão, calcula o tempo restante até um nível crítico e recomenda o acionamento da bomba.</a:t>
            </a:r>
            <a:endParaRPr lang="en-US" sz="1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31920" cy="2408722"/>
          </a:xfrm>
          <a:prstGeom prst="roundRect">
            <a:avLst>
              <a:gd name="adj" fmla="val 2462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347472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3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2459736"/>
            <a:ext cx="73152" cy="7315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>
              <a:solidFill>
                <a:srgbClr val="0070C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41248" y="232257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Nível atual do </a:t>
            </a: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reservatório</a:t>
            </a: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 (%)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935224"/>
            <a:ext cx="73152" cy="7315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41248" y="27980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Hora do </a:t>
            </a: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dia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410712"/>
            <a:ext cx="73152" cy="7315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41248" y="32735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Dia da </a:t>
            </a: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semana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886200"/>
            <a:ext cx="73152" cy="7315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41248" y="37490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Consumo</a:t>
            </a: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 da </a:t>
            </a: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última</a:t>
            </a: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 hora (L)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3017520"/>
            <a:ext cx="502920" cy="320040"/>
          </a:xfrm>
          <a:prstGeom prst="rightArrow">
            <a:avLst/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pt-BR">
              <a:solidFill>
                <a:schemeClr val="accent6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166360" y="1874520"/>
            <a:ext cx="3520440" cy="2408722"/>
          </a:xfrm>
          <a:prstGeom prst="roundRect">
            <a:avLst>
              <a:gd name="adj" fmla="val 2462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166360" y="1874520"/>
            <a:ext cx="3520440" cy="347472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pt-BR">
              <a:solidFill>
                <a:srgbClr val="0070C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66360" y="18745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394960" y="2505456"/>
            <a:ext cx="73152" cy="7315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>
              <a:solidFill>
                <a:srgbClr val="00B05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559552" y="231343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Consumo previsto para </a:t>
            </a: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próxima</a:t>
            </a: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 hora (MLP)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94960" y="3072384"/>
            <a:ext cx="73152" cy="7315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>
              <a:solidFill>
                <a:srgbClr val="00B05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59552" y="28803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Tempo </a:t>
            </a: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estimado</a:t>
            </a: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 para atingir </a:t>
            </a: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nível</a:t>
            </a: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crítico</a:t>
            </a: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cálculo</a:t>
            </a: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94960" y="3639312"/>
            <a:ext cx="73152" cy="7315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>
              <a:solidFill>
                <a:srgbClr val="00B05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59552" y="344728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Recomendação de acionamento da </a:t>
            </a: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bomba</a:t>
            </a: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105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regra</a:t>
            </a:r>
            <a:r>
              <a:rPr lang="en-US" sz="1050" dirty="0"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050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2B1087C0-F5D8-CA94-9E52-0056620491B2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075C22E8-41E1-3E9D-9640-D450371C04DC}"/>
              </a:ext>
            </a:extLst>
          </p:cNvPr>
          <p:cNvSpPr/>
          <p:nvPr/>
        </p:nvSpPr>
        <p:spPr>
          <a:xfrm rot="18620937">
            <a:off x="8997498" y="-747312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1A90F8E8-12FF-CD54-643F-7E549CCE18ED}"/>
              </a:ext>
            </a:extLst>
          </p:cNvPr>
          <p:cNvSpPr/>
          <p:nvPr/>
        </p:nvSpPr>
        <p:spPr>
          <a:xfrm rot="18620937">
            <a:off x="8829624" y="-541573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676BC15A-0CA3-A0D7-56C4-1059A6F16429}"/>
              </a:ext>
            </a:extLst>
          </p:cNvPr>
          <p:cNvSpPr/>
          <p:nvPr/>
        </p:nvSpPr>
        <p:spPr>
          <a:xfrm rot="18620937">
            <a:off x="8639121" y="-359263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42DAF92B-ADB3-1B97-8823-C66693209534}"/>
              </a:ext>
            </a:extLst>
          </p:cNvPr>
          <p:cNvSpPr/>
          <p:nvPr/>
        </p:nvSpPr>
        <p:spPr>
          <a:xfrm>
            <a:off x="457200" y="287464"/>
            <a:ext cx="1038223" cy="325755"/>
          </a:xfrm>
          <a:prstGeom prst="roundRect">
            <a:avLst>
              <a:gd name="adj" fmla="val 50000"/>
            </a:avLst>
          </a:prstGeom>
          <a:solidFill>
            <a:srgbClr val="0070C0">
              <a:alpha val="25000"/>
            </a:srgbClr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A180491C-3FEC-4262-2B8D-935BDF4F1AFF}"/>
              </a:ext>
            </a:extLst>
          </p:cNvPr>
          <p:cNvSpPr/>
          <p:nvPr/>
        </p:nvSpPr>
        <p:spPr>
          <a:xfrm>
            <a:off x="457200" y="287464"/>
            <a:ext cx="1038223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</a:t>
            </a:r>
            <a:endParaRPr lang="en-US" sz="1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287464"/>
            <a:ext cx="1038223" cy="325755"/>
          </a:xfrm>
          <a:prstGeom prst="roundRect">
            <a:avLst>
              <a:gd name="adj" fmla="val 50000"/>
            </a:avLst>
          </a:prstGeom>
          <a:solidFill>
            <a:srgbClr val="0070C0">
              <a:alpha val="25000"/>
            </a:srgbClr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87464"/>
            <a:ext cx="1038223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Modelos</a:t>
            </a:r>
            <a:r>
              <a:rPr lang="en-US" sz="2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70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inteligentes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029200" cy="3178743"/>
          </a:xfrm>
          <a:prstGeom prst="roundRect">
            <a:avLst>
              <a:gd name="adj" fmla="val 2192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029200" cy="36576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Principal: MLP</a:t>
            </a:r>
            <a:endParaRPr lang="en-US" sz="900" dirty="0">
              <a:solidFill>
                <a:srgbClr val="0070C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2075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Multi-Layer Perceptron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Prevê o consumo de água da próxima hora utilizando dados históricos de consumo e informações do reservatório.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4480560" cy="384048"/>
          </a:xfrm>
          <a:prstGeom prst="roundRect">
            <a:avLst>
              <a:gd name="adj" fmla="val 11905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41248" y="3209544"/>
            <a:ext cx="64008" cy="6400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87552" y="3063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relações não lineares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5800" y="3566160"/>
            <a:ext cx="4480560" cy="384048"/>
          </a:xfrm>
          <a:prstGeom prst="roundRect">
            <a:avLst>
              <a:gd name="adj" fmla="val 11905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41248" y="3712464"/>
            <a:ext cx="64008" cy="6400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87552" y="3566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padrões de consumo por horário e dia da semana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" y="4069080"/>
            <a:ext cx="4480560" cy="384048"/>
          </a:xfrm>
          <a:prstGeom prst="roundRect">
            <a:avLst>
              <a:gd name="adj" fmla="val 11905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41248" y="4215384"/>
            <a:ext cx="64008" cy="6400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87552" y="4069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Maior capacidade preditiva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69280" y="1508760"/>
            <a:ext cx="3017520" cy="3178743"/>
          </a:xfrm>
          <a:prstGeom prst="roundRect">
            <a:avLst>
              <a:gd name="adj" fmla="val 2424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669280" y="1508760"/>
            <a:ext cx="30175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8064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806440" y="2304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Referência: Regressão Linear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Baseline</a:t>
            </a:r>
            <a:endParaRPr 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870448" y="3191256"/>
            <a:ext cx="64008" cy="6400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35040" y="30266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a MLP</a:t>
            </a:r>
            <a:endParaRPr lang="en-US" sz="9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70448" y="3694176"/>
            <a:ext cx="64008" cy="6400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35040" y="3529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5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das métricas MAE e RMSE</a:t>
            </a:r>
            <a:endParaRPr lang="en-US" sz="9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E6AF6D54-6E7D-FBE8-D676-77F0A86ACF02}"/>
              </a:ext>
            </a:extLst>
          </p:cNvPr>
          <p:cNvSpPr/>
          <p:nvPr/>
        </p:nvSpPr>
        <p:spPr>
          <a:xfrm>
            <a:off x="5669280" y="1508759"/>
            <a:ext cx="3017520" cy="45719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B6B72D21-EAC8-96E2-EC6A-0DB52CACE886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D48B4-166A-4327-206D-EDF230B1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EA2A97-0B91-BCEF-6CA9-A4256B689527}"/>
              </a:ext>
            </a:extLst>
          </p:cNvPr>
          <p:cNvSpPr/>
          <p:nvPr/>
        </p:nvSpPr>
        <p:spPr>
          <a:xfrm>
            <a:off x="8458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75C8D4D-ACD1-457E-5F58-2CE8B7B47721}"/>
              </a:ext>
            </a:extLst>
          </p:cNvPr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Fluxo</a:t>
            </a:r>
            <a:r>
              <a:rPr lang="en-US" sz="2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 do </a:t>
            </a:r>
            <a:r>
              <a:rPr lang="en-US" sz="270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sistema</a:t>
            </a:r>
            <a:endParaRPr lang="en-US" sz="2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6742F43-79C6-E857-0297-F603CBD46B24}"/>
              </a:ext>
            </a:extLst>
          </p:cNvPr>
          <p:cNvSpPr/>
          <p:nvPr/>
        </p:nvSpPr>
        <p:spPr>
          <a:xfrm>
            <a:off x="629420" y="1562106"/>
            <a:ext cx="1190477" cy="541272"/>
          </a:xfrm>
          <a:prstGeom prst="roundRect">
            <a:avLst>
              <a:gd name="adj" fmla="val 7778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</a:rPr>
              <a:t>Hora do </a:t>
            </a:r>
            <a:r>
              <a:rPr lang="en-US" sz="13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</a:rPr>
              <a:t>dia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D625748-4604-B8A3-FB44-BC0F64AFB48A}"/>
              </a:ext>
            </a:extLst>
          </p:cNvPr>
          <p:cNvSpPr/>
          <p:nvPr/>
        </p:nvSpPr>
        <p:spPr>
          <a:xfrm>
            <a:off x="629420" y="2340175"/>
            <a:ext cx="1190477" cy="541272"/>
          </a:xfrm>
          <a:prstGeom prst="roundRect">
            <a:avLst>
              <a:gd name="adj" fmla="val 7778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t-BR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5BA6C9D-6778-C089-56F9-00020367EDA3}"/>
              </a:ext>
            </a:extLst>
          </p:cNvPr>
          <p:cNvSpPr/>
          <p:nvPr/>
        </p:nvSpPr>
        <p:spPr>
          <a:xfrm>
            <a:off x="629420" y="2340175"/>
            <a:ext cx="1190477" cy="54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 da </a:t>
            </a:r>
            <a:r>
              <a:rPr lang="en-US" sz="13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B1CF41A-6DE8-74AA-64D2-3005027DFCED}"/>
              </a:ext>
            </a:extLst>
          </p:cNvPr>
          <p:cNvSpPr/>
          <p:nvPr/>
        </p:nvSpPr>
        <p:spPr>
          <a:xfrm>
            <a:off x="1978255" y="1658122"/>
            <a:ext cx="381097" cy="273087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 sz="13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DA32B21-3984-449F-D0AA-97EB69CB4143}"/>
              </a:ext>
            </a:extLst>
          </p:cNvPr>
          <p:cNvSpPr/>
          <p:nvPr/>
        </p:nvSpPr>
        <p:spPr>
          <a:xfrm>
            <a:off x="2517710" y="1557567"/>
            <a:ext cx="1190477" cy="541272"/>
          </a:xfrm>
          <a:prstGeom prst="roundRect">
            <a:avLst>
              <a:gd name="adj" fmla="val 7778"/>
            </a:avLst>
          </a:prstGeom>
          <a:solidFill>
            <a:srgbClr val="0070C0"/>
          </a:solidFill>
          <a:ln w="9525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19504C6-F829-EDE1-7A25-29DA407F4861}"/>
              </a:ext>
            </a:extLst>
          </p:cNvPr>
          <p:cNvSpPr/>
          <p:nvPr/>
        </p:nvSpPr>
        <p:spPr>
          <a:xfrm>
            <a:off x="2517710" y="1557567"/>
            <a:ext cx="1190477" cy="54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MLP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(rede neural)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AD11C90-5669-05FB-B76E-87B066F78784}"/>
              </a:ext>
            </a:extLst>
          </p:cNvPr>
          <p:cNvSpPr/>
          <p:nvPr/>
        </p:nvSpPr>
        <p:spPr>
          <a:xfrm>
            <a:off x="637045" y="3891789"/>
            <a:ext cx="1190477" cy="541272"/>
          </a:xfrm>
          <a:prstGeom prst="roundRect">
            <a:avLst>
              <a:gd name="adj" fmla="val 7778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t-BR"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88DE728-DB06-5E69-FAB7-C803590E1249}"/>
              </a:ext>
            </a:extLst>
          </p:cNvPr>
          <p:cNvSpPr/>
          <p:nvPr/>
        </p:nvSpPr>
        <p:spPr>
          <a:xfrm>
            <a:off x="637045" y="3891789"/>
            <a:ext cx="1190477" cy="54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Consumo</a:t>
            </a:r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</a:t>
            </a:r>
            <a:r>
              <a:rPr lang="en-US" sz="13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última</a:t>
            </a:r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hora</a:t>
            </a: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A1EE35E9-874F-AD8D-D341-00D48C6CC809}"/>
              </a:ext>
            </a:extLst>
          </p:cNvPr>
          <p:cNvSpPr/>
          <p:nvPr/>
        </p:nvSpPr>
        <p:spPr>
          <a:xfrm>
            <a:off x="629420" y="3118244"/>
            <a:ext cx="1190477" cy="541272"/>
          </a:xfrm>
          <a:prstGeom prst="roundRect">
            <a:avLst>
              <a:gd name="adj" fmla="val 7778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3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do reservatório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00868E67-8A23-D7C9-0631-B5379C2AF20F}"/>
              </a:ext>
            </a:extLst>
          </p:cNvPr>
          <p:cNvSpPr/>
          <p:nvPr/>
        </p:nvSpPr>
        <p:spPr>
          <a:xfrm>
            <a:off x="2516933" y="2636599"/>
            <a:ext cx="1190477" cy="541272"/>
          </a:xfrm>
          <a:prstGeom prst="roundRect">
            <a:avLst>
              <a:gd name="adj" fmla="val 7778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300" b="1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</a:rPr>
              <a:t>Consumo previsto</a:t>
            </a:r>
            <a:endParaRPr lang="en-US" sz="13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4C9AF281-9ED7-52D6-154E-EF8A6D0F8B5E}"/>
              </a:ext>
            </a:extLst>
          </p:cNvPr>
          <p:cNvSpPr/>
          <p:nvPr/>
        </p:nvSpPr>
        <p:spPr>
          <a:xfrm>
            <a:off x="2517710" y="3715631"/>
            <a:ext cx="1190477" cy="717430"/>
          </a:xfrm>
          <a:prstGeom prst="roundRect">
            <a:avLst>
              <a:gd name="adj" fmla="val 7778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300" b="1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</a:rPr>
              <a:t>Tempo estimado até nível crítico</a:t>
            </a:r>
            <a:endParaRPr lang="en-US" sz="13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C267424F-CA7C-FEE6-00DF-69D0CFF0CC94}"/>
              </a:ext>
            </a:extLst>
          </p:cNvPr>
          <p:cNvSpPr/>
          <p:nvPr/>
        </p:nvSpPr>
        <p:spPr>
          <a:xfrm>
            <a:off x="4440822" y="3715631"/>
            <a:ext cx="1481679" cy="717430"/>
          </a:xfrm>
          <a:prstGeom prst="roundRect">
            <a:avLst>
              <a:gd name="adj" fmla="val 7778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300" b="1" dirty="0">
                <a:solidFill>
                  <a:schemeClr val="bg2">
                    <a:lumMod val="25000"/>
                  </a:schemeClr>
                </a:solidFill>
              </a:rPr>
              <a:t>Recomendação de acionamento da bomba</a:t>
            </a:r>
          </a:p>
        </p:txBody>
      </p:sp>
      <p:sp>
        <p:nvSpPr>
          <p:cNvPr id="36" name="Shape 24">
            <a:extLst>
              <a:ext uri="{FF2B5EF4-FFF2-40B4-BE49-F238E27FC236}">
                <a16:creationId xmlns:a16="http://schemas.microsoft.com/office/drawing/2014/main" id="{D4215FCC-6644-3A34-2AF1-A4EA4B316E51}"/>
              </a:ext>
            </a:extLst>
          </p:cNvPr>
          <p:cNvSpPr/>
          <p:nvPr/>
        </p:nvSpPr>
        <p:spPr>
          <a:xfrm>
            <a:off x="4439227" y="1562105"/>
            <a:ext cx="3773749" cy="1828795"/>
          </a:xfrm>
          <a:prstGeom prst="roundRect">
            <a:avLst>
              <a:gd name="adj" fmla="val 5333"/>
            </a:avLst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59892D26-F327-E036-0E32-67A5F52C5D02}"/>
              </a:ext>
            </a:extLst>
          </p:cNvPr>
          <p:cNvSpPr/>
          <p:nvPr/>
        </p:nvSpPr>
        <p:spPr>
          <a:xfrm>
            <a:off x="4439227" y="1683403"/>
            <a:ext cx="3773749" cy="29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Como funciona:</a:t>
            </a:r>
            <a:endParaRPr lang="en-US" sz="1500" dirty="0"/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9A76B842-3BFB-B10F-9C69-B61A854541FC}"/>
              </a:ext>
            </a:extLst>
          </p:cNvPr>
          <p:cNvSpPr/>
          <p:nvPr/>
        </p:nvSpPr>
        <p:spPr>
          <a:xfrm>
            <a:off x="4597504" y="2114872"/>
            <a:ext cx="3457194" cy="1174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pt-BR" sz="12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Rede Neural MLP utiliza dados históricos de consumo e informações do reservatório para prever a demanda futura de água. A partir dessa previsão, o sistema estima o tempo restante até um nível crítico e recomenda o acionamento da bomba de forma antecipada.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38565C80-87FB-9FB8-4BA0-844B20E153EE}"/>
              </a:ext>
            </a:extLst>
          </p:cNvPr>
          <p:cNvSpPr/>
          <p:nvPr/>
        </p:nvSpPr>
        <p:spPr>
          <a:xfrm rot="5400000">
            <a:off x="2949972" y="2248905"/>
            <a:ext cx="325951" cy="249678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 sz="130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87A19228-B673-8F82-D03E-469AB028B341}"/>
              </a:ext>
            </a:extLst>
          </p:cNvPr>
          <p:cNvSpPr/>
          <p:nvPr/>
        </p:nvSpPr>
        <p:spPr>
          <a:xfrm>
            <a:off x="3884343" y="3937802"/>
            <a:ext cx="381097" cy="273087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 sz="1300"/>
          </a:p>
        </p:txBody>
      </p:sp>
      <p:sp>
        <p:nvSpPr>
          <p:cNvPr id="44" name="Shape 9">
            <a:extLst>
              <a:ext uri="{FF2B5EF4-FFF2-40B4-BE49-F238E27FC236}">
                <a16:creationId xmlns:a16="http://schemas.microsoft.com/office/drawing/2014/main" id="{9CE7F159-2D3C-63ED-F618-21F815ACE85B}"/>
              </a:ext>
            </a:extLst>
          </p:cNvPr>
          <p:cNvSpPr/>
          <p:nvPr/>
        </p:nvSpPr>
        <p:spPr>
          <a:xfrm rot="5400000">
            <a:off x="2949197" y="3327937"/>
            <a:ext cx="325951" cy="249678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 sz="1300"/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8EFEEDA4-2121-6FE0-12DD-4740A28A7A7E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1EBC0F25-0D90-73D4-9885-0601BF6E4D11}"/>
              </a:ext>
            </a:extLst>
          </p:cNvPr>
          <p:cNvSpPr/>
          <p:nvPr/>
        </p:nvSpPr>
        <p:spPr>
          <a:xfrm rot="18620937">
            <a:off x="8997498" y="-747312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0">
            <a:extLst>
              <a:ext uri="{FF2B5EF4-FFF2-40B4-BE49-F238E27FC236}">
                <a16:creationId xmlns:a16="http://schemas.microsoft.com/office/drawing/2014/main" id="{C176F774-A7FD-D884-A547-9A273053C03A}"/>
              </a:ext>
            </a:extLst>
          </p:cNvPr>
          <p:cNvSpPr/>
          <p:nvPr/>
        </p:nvSpPr>
        <p:spPr>
          <a:xfrm rot="18620937">
            <a:off x="8829624" y="-541573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0">
            <a:extLst>
              <a:ext uri="{FF2B5EF4-FFF2-40B4-BE49-F238E27FC236}">
                <a16:creationId xmlns:a16="http://schemas.microsoft.com/office/drawing/2014/main" id="{CBD474FC-471D-5673-C5B7-86C24BB242C6}"/>
              </a:ext>
            </a:extLst>
          </p:cNvPr>
          <p:cNvSpPr/>
          <p:nvPr/>
        </p:nvSpPr>
        <p:spPr>
          <a:xfrm rot="18620937">
            <a:off x="8639121" y="-359263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B4D8ADCE-72AC-CE47-DFE3-2AE4669043DF}"/>
              </a:ext>
            </a:extLst>
          </p:cNvPr>
          <p:cNvSpPr/>
          <p:nvPr/>
        </p:nvSpPr>
        <p:spPr>
          <a:xfrm>
            <a:off x="457200" y="287464"/>
            <a:ext cx="1038223" cy="325755"/>
          </a:xfrm>
          <a:prstGeom prst="roundRect">
            <a:avLst>
              <a:gd name="adj" fmla="val 50000"/>
            </a:avLst>
          </a:prstGeom>
          <a:solidFill>
            <a:srgbClr val="0070C0">
              <a:alpha val="25000"/>
            </a:srgbClr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96F5D586-7A6D-1E77-2736-EB8A2930C2F4}"/>
              </a:ext>
            </a:extLst>
          </p:cNvPr>
          <p:cNvSpPr/>
          <p:nvPr/>
        </p:nvSpPr>
        <p:spPr>
          <a:xfrm>
            <a:off x="457200" y="287464"/>
            <a:ext cx="1038223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51" name="Shape 5">
            <a:extLst>
              <a:ext uri="{FF2B5EF4-FFF2-40B4-BE49-F238E27FC236}">
                <a16:creationId xmlns:a16="http://schemas.microsoft.com/office/drawing/2014/main" id="{0880149A-65C3-5168-C653-C87E333867B4}"/>
              </a:ext>
            </a:extLst>
          </p:cNvPr>
          <p:cNvSpPr/>
          <p:nvPr/>
        </p:nvSpPr>
        <p:spPr>
          <a:xfrm>
            <a:off x="4440823" y="1565433"/>
            <a:ext cx="3772154" cy="45719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8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b="1" dirty="0">
              <a:solidFill>
                <a:srgbClr val="0070C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AquaPredict vs </a:t>
            </a:r>
            <a:r>
              <a:rPr lang="en-US" sz="270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abordagem</a:t>
            </a:r>
            <a:r>
              <a:rPr lang="en-US" sz="2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70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tradicional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vez de reagir aos níveis do reservatório, o AquaPredict prevê tendências futuras e toma decisões antecipadas.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31920" cy="2606040"/>
          </a:xfrm>
          <a:prstGeom prst="roundRect">
            <a:avLst>
              <a:gd name="adj" fmla="val 2807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 </a:t>
            </a:r>
            <a:r>
              <a:rPr lang="en-US" sz="1300" b="1" dirty="0" err="1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Abordagem</a:t>
            </a:r>
            <a:r>
              <a:rPr lang="en-US" sz="13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 err="1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tradicional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latin typeface="Inter" pitchFamily="34" charset="0"/>
                <a:ea typeface="Inter" pitchFamily="34" charset="-122"/>
                <a:cs typeface="Inter" pitchFamily="34" charset="-120"/>
              </a:rPr>
              <a:t>Detecta problema → age depois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2157" y="2953258"/>
            <a:ext cx="90170" cy="90932"/>
          </a:xfrm>
          <a:prstGeom prst="ellipse">
            <a:avLst/>
          </a:prstGeom>
          <a:solidFill>
            <a:srgbClr val="F8707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</a:t>
            </a:r>
            <a:r>
              <a:rPr lang="en-US" sz="10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previsão</a:t>
            </a: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consumo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2157" y="3346450"/>
            <a:ext cx="90170" cy="90932"/>
          </a:xfrm>
          <a:prstGeom prst="ellipse">
            <a:avLst/>
          </a:prstGeom>
          <a:solidFill>
            <a:srgbClr val="F8707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60120" y="3227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Ação apenas após nível crítico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2157" y="3739642"/>
            <a:ext cx="90170" cy="90932"/>
          </a:xfrm>
          <a:prstGeom prst="ellipse">
            <a:avLst/>
          </a:prstGeom>
          <a:solidFill>
            <a:srgbClr val="F8707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60120" y="3621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Dependência</a:t>
            </a: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intervenção</a:t>
            </a: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humana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2157" y="4132834"/>
            <a:ext cx="90170" cy="90932"/>
          </a:xfrm>
          <a:prstGeom prst="ellipse">
            <a:avLst/>
          </a:prstGeom>
          <a:solidFill>
            <a:srgbClr val="F8707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60120" y="40142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Maior </a:t>
            </a:r>
            <a:r>
              <a:rPr lang="en-US" sz="10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</a:t>
            </a: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00" dirty="0" err="1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desabastecimento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0" y="2834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1874520"/>
            <a:ext cx="3931920" cy="2606040"/>
          </a:xfrm>
          <a:prstGeom prst="roundRect">
            <a:avLst>
              <a:gd name="adj" fmla="val 2807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54880" y="1874520"/>
            <a:ext cx="3931920" cy="36576"/>
          </a:xfrm>
          <a:prstGeom prst="rect">
            <a:avLst/>
          </a:prstGeom>
          <a:solidFill>
            <a:srgbClr val="2E6CA4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937760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</a:t>
            </a:r>
            <a:r>
              <a:rPr lang="en-US" sz="13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AquaPredict (IA)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7760" y="2423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latin typeface="Inter" pitchFamily="34" charset="0"/>
                <a:ea typeface="Inter" pitchFamily="34" charset="-122"/>
                <a:cs typeface="Inter" pitchFamily="34" charset="-120"/>
              </a:rPr>
              <a:t>Prevê o </a:t>
            </a:r>
            <a:r>
              <a:rPr lang="en-US" sz="110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consumo</a:t>
            </a:r>
            <a:r>
              <a:rPr lang="en-US" sz="1100" dirty="0">
                <a:latin typeface="Inter" pitchFamily="34" charset="0"/>
                <a:ea typeface="Inter" pitchFamily="34" charset="-122"/>
                <a:cs typeface="Inter" pitchFamily="34" charset="-120"/>
              </a:rPr>
              <a:t> → age antes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837" y="2953258"/>
            <a:ext cx="90170" cy="9093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25780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Coleta contínua de dados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837" y="3346450"/>
            <a:ext cx="90170" cy="9093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257800" y="3227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MLP prevê consumo futuro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29837" y="3739642"/>
            <a:ext cx="90170" cy="9093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257800" y="3621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calcula tempo até nível crítico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837" y="4132834"/>
            <a:ext cx="90170" cy="9093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257800" y="40142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dirty="0">
                <a:solidFill>
                  <a:schemeClr val="bg2">
                    <a:lumMod val="2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recomenda acionamento da bomba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4617720"/>
            <a:ext cx="8229600" cy="384048"/>
          </a:xfrm>
          <a:prstGeom prst="roundRect">
            <a:avLst>
              <a:gd name="adj" fmla="val 19048"/>
            </a:avLst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40080" y="4617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dirty="0" err="1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AquaPredict</a:t>
            </a:r>
            <a:r>
              <a:rPr lang="pt-BR" sz="1000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transforma a gestão de reservatórios de reativa para preditiva, reduzindo custos operacionais e minimizando riscos de desabastecimento.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EB2B4614-9C0C-131A-AB0D-6B77FBF8EAB1}"/>
              </a:ext>
            </a:extLst>
          </p:cNvPr>
          <p:cNvSpPr/>
          <p:nvPr/>
        </p:nvSpPr>
        <p:spPr>
          <a:xfrm>
            <a:off x="457200" y="287464"/>
            <a:ext cx="1038223" cy="325755"/>
          </a:xfrm>
          <a:prstGeom prst="roundRect">
            <a:avLst>
              <a:gd name="adj" fmla="val 50000"/>
            </a:avLst>
          </a:prstGeom>
          <a:solidFill>
            <a:srgbClr val="0070C0">
              <a:alpha val="25000"/>
            </a:srgbClr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FF010D84-FA04-3C6D-0A71-7EF11F6E500A}"/>
              </a:ext>
            </a:extLst>
          </p:cNvPr>
          <p:cNvSpPr/>
          <p:nvPr/>
        </p:nvSpPr>
        <p:spPr>
          <a:xfrm>
            <a:off x="457200" y="287464"/>
            <a:ext cx="1038223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DIFERENCIAL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608AF228-4F62-D41E-25B2-88FA2A67BC21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A40FDB7D-5E5B-1A1E-0AE5-47189423290B}"/>
              </a:ext>
            </a:extLst>
          </p:cNvPr>
          <p:cNvSpPr/>
          <p:nvPr/>
        </p:nvSpPr>
        <p:spPr>
          <a:xfrm rot="18620937">
            <a:off x="8997498" y="-747312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0849DBD5-5EB0-E1E6-385E-9A00831CF3A4}"/>
              </a:ext>
            </a:extLst>
          </p:cNvPr>
          <p:cNvSpPr/>
          <p:nvPr/>
        </p:nvSpPr>
        <p:spPr>
          <a:xfrm rot="18620937">
            <a:off x="8829624" y="-541573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54AFC91D-7F1C-8ACA-2B14-18709D138B5E}"/>
              </a:ext>
            </a:extLst>
          </p:cNvPr>
          <p:cNvSpPr/>
          <p:nvPr/>
        </p:nvSpPr>
        <p:spPr>
          <a:xfrm rot="18620937">
            <a:off x="8639121" y="-359263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2E6CA4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Nossa equipe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2E6CA4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Shape 5"/>
          <p:cNvSpPr/>
          <p:nvPr/>
        </p:nvSpPr>
        <p:spPr>
          <a:xfrm>
            <a:off x="978408" y="1965960"/>
            <a:ext cx="914400" cy="9144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 Bruno Duarte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6916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2E6CA4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Shape 9"/>
          <p:cNvSpPr/>
          <p:nvPr/>
        </p:nvSpPr>
        <p:spPr>
          <a:xfrm>
            <a:off x="3127248" y="1965960"/>
            <a:ext cx="914400" cy="9144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69748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Carlos Henrique de Queiroz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2E6CA4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276088" y="1965960"/>
            <a:ext cx="914400" cy="914400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754880" y="3063240"/>
            <a:ext cx="1961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José Veríssimo de Oliveira Queiroz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6916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2E6CA4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Shape 17"/>
          <p:cNvSpPr/>
          <p:nvPr/>
        </p:nvSpPr>
        <p:spPr>
          <a:xfrm>
            <a:off x="7424928" y="1965960"/>
            <a:ext cx="914400" cy="914400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99516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Thallys Araújo de Morais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" y="4480560"/>
            <a:ext cx="8869680" cy="13716"/>
          </a:xfrm>
          <a:prstGeom prst="rect">
            <a:avLst/>
          </a:prstGeom>
          <a:solidFill>
            <a:srgbClr val="2E6CA4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AquaPredict  ·  Sistema Inteligente de Previsão para Reservatórios de Água</a:t>
            </a:r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91646670-BA47-96A9-3146-8DF2FB8C58C2}"/>
              </a:ext>
            </a:extLst>
          </p:cNvPr>
          <p:cNvSpPr/>
          <p:nvPr/>
        </p:nvSpPr>
        <p:spPr>
          <a:xfrm>
            <a:off x="457200" y="287464"/>
            <a:ext cx="1038223" cy="325755"/>
          </a:xfrm>
          <a:prstGeom prst="roundRect">
            <a:avLst>
              <a:gd name="adj" fmla="val 50000"/>
            </a:avLst>
          </a:prstGeom>
          <a:solidFill>
            <a:srgbClr val="0070C0">
              <a:alpha val="25000"/>
            </a:srgbClr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1F0DC1D3-31FA-9937-5C6D-37BBD50794A6}"/>
              </a:ext>
            </a:extLst>
          </p:cNvPr>
          <p:cNvSpPr/>
          <p:nvPr/>
        </p:nvSpPr>
        <p:spPr>
          <a:xfrm>
            <a:off x="457200" y="287464"/>
            <a:ext cx="1038223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54B90019-52F4-CE52-BAC1-FCA83D70AEA3}"/>
              </a:ext>
            </a:extLst>
          </p:cNvPr>
          <p:cNvSpPr/>
          <p:nvPr/>
        </p:nvSpPr>
        <p:spPr>
          <a:xfrm rot="18620937">
            <a:off x="8997498" y="-747312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A31573CD-5011-E7D5-2537-A74F8221DD94}"/>
              </a:ext>
            </a:extLst>
          </p:cNvPr>
          <p:cNvSpPr/>
          <p:nvPr/>
        </p:nvSpPr>
        <p:spPr>
          <a:xfrm rot="18620937">
            <a:off x="8829624" y="-541573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5827BBB4-E5A5-A485-EEB4-2619E25B284A}"/>
              </a:ext>
            </a:extLst>
          </p:cNvPr>
          <p:cNvSpPr/>
          <p:nvPr/>
        </p:nvSpPr>
        <p:spPr>
          <a:xfrm rot="18620937">
            <a:off x="8639121" y="-359263"/>
            <a:ext cx="171550" cy="1494624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C418FEE8-2563-BE68-5FF5-709910A5A959}"/>
              </a:ext>
            </a:extLst>
          </p:cNvPr>
          <p:cNvSpPr/>
          <p:nvPr/>
        </p:nvSpPr>
        <p:spPr>
          <a:xfrm>
            <a:off x="457200" y="346100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alex.duarte</a:t>
            </a:r>
            <a:endParaRPr lang="en-US" sz="1000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@alunos.ufersa.edu.br</a:t>
            </a:r>
            <a:endParaRPr lang="en-US" sz="10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1C3849F2-4105-FE36-3761-826B35BF4E4E}"/>
              </a:ext>
            </a:extLst>
          </p:cNvPr>
          <p:cNvSpPr/>
          <p:nvPr/>
        </p:nvSpPr>
        <p:spPr>
          <a:xfrm>
            <a:off x="2606040" y="346100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carlos.queiroz53447</a:t>
            </a:r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@alunos.ufersa.edu.br</a:t>
            </a:r>
            <a:endParaRPr lang="en-US" sz="10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4A694550-D8E3-A097-1CF1-B8B50A90847D}"/>
              </a:ext>
            </a:extLst>
          </p:cNvPr>
          <p:cNvSpPr/>
          <p:nvPr/>
        </p:nvSpPr>
        <p:spPr>
          <a:xfrm>
            <a:off x="6903720" y="34549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thallys.morais</a:t>
            </a:r>
            <a:endParaRPr lang="en-US" sz="1000" b="1" dirty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@alunos.ufersa.edu.br</a:t>
            </a:r>
            <a:endParaRPr lang="en-US" sz="10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91970296-2631-7320-02F2-0815EED4BF9A}"/>
              </a:ext>
            </a:extLst>
          </p:cNvPr>
          <p:cNvSpPr/>
          <p:nvPr/>
        </p:nvSpPr>
        <p:spPr>
          <a:xfrm>
            <a:off x="4750308" y="346100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carlos.queiroz53447</a:t>
            </a:r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@alunos.ufersa.edu.br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688</TotalTime>
  <Words>571</Words>
  <Application>Microsoft Office PowerPoint</Application>
  <PresentationFormat>Apresentação na tela (16:9)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Inter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AquaPredict</dc:title>
  <dc:subject>PptxGenJS Presentation</dc:subject>
  <dc:creator>PptxGenJS</dc:creator>
  <cp:lastModifiedBy>Alex Bruno</cp:lastModifiedBy>
  <cp:revision>6</cp:revision>
  <dcterms:created xsi:type="dcterms:W3CDTF">2026-06-05T01:51:23Z</dcterms:created>
  <dcterms:modified xsi:type="dcterms:W3CDTF">2026-06-09T01:17:17Z</dcterms:modified>
</cp:coreProperties>
</file>